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0CDF4"/>
                </a:solidFill>
              </a:defRPr>
            </a:pPr>
            <a:r>
              <a:t>THE DEVELOPERS ARENA | CAPSTONE PORTFOLIO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Customer Churn Analytics &amp; Lifetime Value Optimization</a:t>
            </a:r>
          </a:p>
          <a:p>
            <a:pPr>
              <a:spcBef>
                <a:spcPts val="800"/>
              </a:spcBef>
              <a:defRPr sz="1800">
                <a:solidFill>
                  <a:srgbClr val="E2E8F0"/>
                </a:solidFill>
              </a:defRPr>
            </a:pPr>
            <a:r>
              <a:t>End-to-End Business Intelligence &amp; Algorithmic Retention Architecture</a:t>
            </a:r>
          </a:p>
          <a:p>
            <a:pPr>
              <a:spcBef>
                <a:spcPts val="2400"/>
              </a:spcBef>
              <a:defRPr sz="1200">
                <a:solidFill>
                  <a:srgbClr val="CBD5E0"/>
                </a:solidFill>
              </a:defRPr>
            </a:pPr>
            <a:r>
              <a:t>Organization: The Developers Arena | Role: Data Science Intern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Project Motivation &amp; Executive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Customer acquisition costs (CAC) across digital channels have escalated over consecutive quarters.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Retaining existing accounts is 5x to 7x more cost-efficient than generating top-of-funnel acquisitions.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Primary Problem: Heightened early-tenure attrition and dormancy spikes leading to preventable GMV loss.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Core Objective: Diagnose attrition mechanisms and construct an automated early-warning intervention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Data Pipeline &amp; Integrity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Dataset Scope: 1,200 observation records across 20 multidimensional customer attributes.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Missingness Protocol: Median imputation for Tenure (25 records) and Inactivity recency (30 records).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Outlier Regularization: 99th-percentile Winsorization on warehouse transit distances to prevent weight distortion.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Encoding Strategy: Dummy variable one-hot transformation (k-1) to eliminate multicollinearity in linear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Exploratory Finding 1: The Onboarding Drop-off Cliff</a:t>
            </a:r>
          </a:p>
        </p:txBody>
      </p:sp>
      <p:pic>
        <p:nvPicPr>
          <p:cNvPr id="4" name="Picture 3" descr="viz1_tenure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772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Attrition is heavily skewed toward accounts in their first 0 - 3 months.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New acquisitions are 3.8x more likely to churn than customers retained beyond month 6.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Actionable Implication: Automated customer success initiatives must prioritize onboarding days 1 to 90.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Exploratory Finding 2: Cross-Feature Correlation Matrix</a:t>
            </a:r>
          </a:p>
        </p:txBody>
      </p:sp>
      <p:pic>
        <p:nvPicPr>
          <p:cNvPr id="4" name="Picture 3" descr="viz2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538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Customer Complaints (+0.34) and Order Dormancy (+0.14) are the top linear churn correlates.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App engagement hours and device counts showed near-zero linear dependence on churn.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Conclusion: Churn is fundamentally driven by operational friction, not by platform accessibility.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Diagnostic Finding 3: The Support Ticket Multiplier</a:t>
            </a:r>
          </a:p>
        </p:txBody>
      </p:sp>
      <p:pic>
        <p:nvPicPr>
          <p:cNvPr id="4" name="Picture 3" descr="viz3_churn_by_complain_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9420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An unresolved complaint elevates churn risk dramatically across all satisfaction rating tiers.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Even top-tier satisfied customers (Score 5) experience a churn jump from 8.8% to 45.8% upon filing a complaint.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Action: Establish a 2-hour SLA rapid response workflow for new account inquiries.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Diagnostic Finding 4: Inactivity Boundary Threshold</a:t>
            </a:r>
          </a:p>
        </p:txBody>
      </p:sp>
      <p:pic>
        <p:nvPicPr>
          <p:cNvPr id="4" name="Picture 3" descr="viz4_recency_vs_cash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37723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Beyond 14 days without an order, churn rates surge past 62% irrespective of cashback tier.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Cashback serves as an effective loyalty shield only when redeemed prior to the 14-day threshold.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Action: Trigger automated category win-back alerts at Day 10 of dormancy.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Technique 1: Econometric Logistic Regression Inferences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Multivariate Logit Estimation isolated odds ratios across all covariates (p &lt; 0.001).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Customer Complaint: Odds Ratio = 5.05 (filing a ticket increases odds of churning by 405%).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Tenure Protection: Odds Ratio = 0.83 (each active month lowers churn odds by 17%).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Recency Inactivity: Odds Ratio = 1.13 per additional dormant 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Technique 2: Random Forest Machine Learning Model</a:t>
            </a:r>
          </a:p>
        </p:txBody>
      </p:sp>
      <p:pic>
        <p:nvPicPr>
          <p:cNvPr id="4" name="Picture 3" descr="viz5_eval_and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943600" cy="2085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Supervised Ensemble: 150 decision trees trained with depth regularized at 8.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Model Performance: 89.3% Test Accuracy and Area Under ROC Curve (AUC) of 0.76 - 0.91.</a:t>
            </a:r>
          </a:p>
          <a:p>
            <a:pPr>
              <a:spcAft>
                <a:spcPts val="1600"/>
              </a:spcAft>
              <a:defRPr sz="1600">
                <a:solidFill>
                  <a:srgbClr val="2D3748"/>
                </a:solidFill>
              </a:defRPr>
            </a:pPr>
            <a:r>
              <a:t>•  Dominant Feature Hierarchy: Complain (16.8%), Tenure (12.4%), Recency (9.2%), Cashback (8.8%).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Technique 3: Behavioral Customer Segmentation (K-Means)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Cluster 0 - Core Loyalists (4.2% Churn): High order frequency, tenure &gt; 18 mos. Action: VIP rewards.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Cluster 1 - Dormant At-Risk (62.8% Churn): Tenure 2.1 mos, 16.4 days inactivity. Action: Rapid win-back.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Cluster 2 - Price Sensitive (19.5% Churn): Moderate frequency, high discount elasticity. Action: Cashback triggers.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Business Implementation &amp; Operational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Weeks 1 - 2 (Pipeline): Containerize scoring algorithm and automate daily SQL table risk outputs.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Weeks 3 - 4 (Service SLA): Connect CRM to auto-route high-risk tickets to priority resolution queues.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Weeks 5 - 6 (Lifecycle Push): Launch Day 10 dormancy push notifications with personalized coupons.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Weeks 7 - 8 (Controlled Test): Execute 10% holdout A/B validation to assess recovered customer GMV.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0CDF4"/>
                </a:solidFill>
              </a:defRPr>
            </a:pPr>
            <a:r>
              <a:t>BUSINESS ANALYSIS INTERNSHIP PROJECT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Projected Financial Impact &amp; Return on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Net Churn Reduction: 18% annualized decrease across at-risk customer cohorts.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Preserved Revenue: Estimated $210,000 in annual Gross Merchandise Value protected from loss.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Payback Window: Complete technology deployment and voucher expenses amortized in under 45 days.</a:t>
            </a:r>
          </a:p>
          <a:p>
            <a:pPr>
              <a:spcAft>
                <a:spcPts val="1800"/>
              </a:spcAft>
              <a:defRPr sz="1800">
                <a:solidFill>
                  <a:srgbClr val="2D3748"/>
                </a:solidFill>
              </a:defRPr>
            </a:pPr>
            <a:r>
              <a:t>•  Long-term Strategic Advantage: Data-driven shift from reactive firefighting to predictive customer lifecycle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